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8091" y="3085765"/>
            <a:ext cx="8240108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E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2" y="990600"/>
            <a:ext cx="7989752" cy="1504844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2" y="2495444"/>
            <a:ext cx="7989752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689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8092" y="599725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E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228003"/>
            <a:ext cx="7989752" cy="36307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6704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52646" y="5141973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E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36573"/>
            <a:ext cx="7989751" cy="1504844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3" y="4541417"/>
            <a:ext cx="7989751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539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8092" y="599725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E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2" y="2228002"/>
            <a:ext cx="3899527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282" y="2228003"/>
            <a:ext cx="390766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1534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spect="1"/>
          </p:cNvSpPr>
          <p:nvPr/>
        </p:nvSpPr>
        <p:spPr>
          <a:xfrm>
            <a:off x="448092" y="599725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E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28003"/>
            <a:ext cx="3593500" cy="576262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2" y="2926051"/>
            <a:ext cx="3899527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69308" y="2228003"/>
            <a:ext cx="3601635" cy="576262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282" y="2926051"/>
            <a:ext cx="3907662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2172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>
            <a:spLocks noChangeAspect="1"/>
          </p:cNvSpPr>
          <p:nvPr/>
        </p:nvSpPr>
        <p:spPr>
          <a:xfrm>
            <a:off x="448092" y="599725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E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0809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880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52646" y="5141973"/>
            <a:ext cx="8238707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E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352" y="5262296"/>
            <a:ext cx="353662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99" y="601200"/>
            <a:ext cx="824040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305617" y="5262295"/>
            <a:ext cx="426532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8445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4693389"/>
            <a:ext cx="7989752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8093" y="599725"/>
            <a:ext cx="8238706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6"/>
            <a:ext cx="7989752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495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8092" y="599725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E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7744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6629400" y="599725"/>
            <a:ext cx="2057399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E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75725"/>
            <a:ext cx="1503123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81192" y="675725"/>
            <a:ext cx="592220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45255" y="5956136"/>
            <a:ext cx="947672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0"/>
            <a:ext cx="592220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7333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687474"/>
            <a:ext cx="7989752" cy="108332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228003"/>
            <a:ext cx="7989752" cy="3630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59327" y="595613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0"/>
            <a:ext cx="487058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00476" y="5956136"/>
            <a:ext cx="7704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8091" y="441325"/>
            <a:ext cx="2719909" cy="10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E"/>
          </a:p>
        </p:txBody>
      </p:sp>
      <p:sp>
        <p:nvSpPr>
          <p:cNvPr id="10" name="Rectangle 9"/>
          <p:cNvSpPr/>
          <p:nvPr/>
        </p:nvSpPr>
        <p:spPr>
          <a:xfrm>
            <a:off x="5976001" y="441325"/>
            <a:ext cx="2710800" cy="108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E"/>
          </a:p>
        </p:txBody>
      </p:sp>
      <p:sp>
        <p:nvSpPr>
          <p:cNvPr id="11" name="Rectangle 10"/>
          <p:cNvSpPr/>
          <p:nvPr/>
        </p:nvSpPr>
        <p:spPr>
          <a:xfrm>
            <a:off x="3216601" y="441325"/>
            <a:ext cx="2710800" cy="108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935198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sz="3200" dirty="0" err="1"/>
              <a:t>FloodCast</a:t>
            </a:r>
            <a:r>
              <a:rPr sz="3200" dirty="0"/>
              <a:t> Venice – </a:t>
            </a:r>
            <a:r>
              <a:rPr lang="en-GB" sz="3200" dirty="0"/>
              <a:t>Water you thinking? 💦</a:t>
            </a:r>
            <a:endParaRPr sz="32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By: Muhammad Ali Ghanchi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Business Case &amp; Added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491" y="1899170"/>
            <a:ext cx="8770374" cy="342991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E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problem:</a:t>
            </a:r>
            <a:endParaRPr lang="en-AE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AE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Venice floods more than 200 times per year, yet most planning decisions still rely on static reports with no interactive scenario testing</a:t>
            </a:r>
          </a:p>
          <a:p>
            <a:r>
              <a:rPr lang="en-AE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Existing tools are either too technical for non-experts or too expensive for smaller municipalities</a:t>
            </a:r>
          </a:p>
          <a:p>
            <a:pPr marL="0" indent="0">
              <a:buNone/>
            </a:pPr>
            <a:r>
              <a:rPr lang="en-AE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product:</a:t>
            </a:r>
            <a:endParaRPr lang="en-AE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AE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FloodCast</a:t>
            </a:r>
            <a:r>
              <a:rPr lang="en-AE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Venice – Water you thinking? </a:t>
            </a:r>
            <a:r>
              <a:rPr lang="en-GB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💦</a:t>
            </a:r>
            <a:r>
              <a:rPr lang="en-AE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A web-based decision-support dashboard combining historical tide gauge data, climate-driven regression, and RCP scenario comparisons</a:t>
            </a:r>
          </a:p>
          <a:p>
            <a:r>
              <a:rPr lang="en-AE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Users set a critical flooding threshold and instantly see when each scenario crosses it, no data pipeline, no modelling expertise required</a:t>
            </a:r>
          </a:p>
          <a:p>
            <a:endParaRPr lang="en-A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24000" lvl="1" indent="0">
              <a:buNone/>
              <a:defRPr sz="2000"/>
            </a:pPr>
            <a:endParaRPr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E4AEB2-AAD3-9CFB-4338-AD58E5A642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740" y="4554311"/>
            <a:ext cx="6931743" cy="221090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Architecture &amp;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8002" y="2042188"/>
            <a:ext cx="3307753" cy="1557415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  <a:defRPr sz="2000"/>
            </a:pP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Methodology:</a:t>
            </a:r>
          </a:p>
          <a:p>
            <a:pPr marL="0" indent="0">
              <a:buNone/>
              <a:defRPr sz="2000"/>
            </a:pPr>
            <a:r>
              <a:rPr lang="en-A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Development followed five stages: data collection, preprocessing, model training, prediction, and deployment</a:t>
            </a:r>
            <a:endParaRPr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4284B5-D3EE-D028-DC93-6E5962334DBA}"/>
              </a:ext>
            </a:extLst>
          </p:cNvPr>
          <p:cNvSpPr txBox="1"/>
          <p:nvPr/>
        </p:nvSpPr>
        <p:spPr>
          <a:xfrm>
            <a:off x="458002" y="3982064"/>
            <a:ext cx="267328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Why?</a:t>
            </a:r>
          </a:p>
          <a:p>
            <a:endParaRPr lang="en-US" dirty="0"/>
          </a:p>
          <a:p>
            <a:r>
              <a:rPr lang="en-AE" dirty="0"/>
              <a:t>Linear regression suits long-term trend forecasting; it's simple, interpretable, and matches the scale of sea level data.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363015-AB31-3093-B325-C49EEF332B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6811" y="1936955"/>
            <a:ext cx="5159187" cy="47857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>
        <p15:prstTrans prst="origami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Technical Implementation &amp; Configurations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913109"/>
            <a:ext cx="2805298" cy="4252476"/>
          </a:xfrm>
        </p:spPr>
        <p:txBody>
          <a:bodyPr>
            <a:normAutofit lnSpcReduction="10000"/>
          </a:bodyPr>
          <a:lstStyle/>
          <a:p>
            <a:pPr marL="0" indent="0">
              <a:buNone/>
              <a:defRPr sz="2000"/>
            </a:pPr>
            <a:r>
              <a:rPr lang="en-US" sz="1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Libraries</a:t>
            </a: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defRPr sz="2000"/>
            </a:pPr>
            <a:r>
              <a:rPr lang="en-AE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pandas + NumPy cleaning, merging 5 datasets on year </a:t>
            </a:r>
          </a:p>
          <a:p>
            <a:pPr marL="324000" lvl="1" indent="0">
              <a:buNone/>
              <a:defRPr sz="2000"/>
            </a:pPr>
            <a:endParaRPr lang="en-AE" sz="15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defRPr sz="2000"/>
            </a:pPr>
            <a:r>
              <a:rPr lang="en-AE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scikit-learn Linear Regression two model variants (simple + climate-driven) </a:t>
            </a:r>
          </a:p>
          <a:p>
            <a:pPr marL="324000" lvl="1" indent="0">
              <a:buNone/>
              <a:defRPr sz="2000"/>
            </a:pPr>
            <a:endParaRPr lang="en-AE" sz="15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defRPr sz="2000"/>
            </a:pPr>
            <a:r>
              <a:rPr lang="en-AE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Plotly interactive charts; </a:t>
            </a:r>
            <a:r>
              <a:rPr lang="en-AE" sz="15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Streamlit</a:t>
            </a:r>
            <a:r>
              <a:rPr lang="en-AE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multi-page web app</a:t>
            </a:r>
          </a:p>
          <a:p>
            <a:pPr marL="324000" lvl="1" indent="0">
              <a:buNone/>
              <a:defRPr sz="2000"/>
            </a:pPr>
            <a:endParaRPr lang="en-AE" sz="15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defRPr sz="2000"/>
            </a:pPr>
            <a:r>
              <a:rPr lang="en-AE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static curated datasets</a:t>
            </a:r>
            <a:endParaRPr sz="15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33B32B-590C-0606-F888-CCA03B457EAD}"/>
              </a:ext>
            </a:extLst>
          </p:cNvPr>
          <p:cNvSpPr txBox="1"/>
          <p:nvPr/>
        </p:nvSpPr>
        <p:spPr>
          <a:xfrm>
            <a:off x="3246661" y="1811129"/>
            <a:ext cx="5316147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E" sz="1600" dirty="0">
                <a:latin typeface="Arial" panose="020B0604020202020204" pitchFamily="34" charset="0"/>
                <a:cs typeface="Arial" panose="020B0604020202020204" pitchFamily="34" charset="0"/>
              </a:rPr>
              <a:t>Design decisions:</a:t>
            </a:r>
          </a:p>
          <a:p>
            <a:endParaRPr lang="en-AE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E" sz="1200" dirty="0">
                <a:latin typeface="Arial" panose="020B0604020202020204" pitchFamily="34" charset="0"/>
                <a:cs typeface="Arial" panose="020B0604020202020204" pitchFamily="34" charset="0"/>
              </a:rPr>
              <a:t>Switched matplotlib to Plotly for interactivity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E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E" sz="1200" dirty="0">
                <a:latin typeface="Arial" panose="020B0604020202020204" pitchFamily="34" charset="0"/>
                <a:cs typeface="Arial" panose="020B0604020202020204" pitchFamily="34" charset="0"/>
              </a:rPr>
              <a:t>Compared with future RCP predictions, used only for comparison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E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E" sz="1200" dirty="0">
                <a:latin typeface="Arial" panose="020B0604020202020204" pitchFamily="34" charset="0"/>
                <a:cs typeface="Arial" panose="020B0604020202020204" pitchFamily="34" charset="0"/>
              </a:rPr>
              <a:t>Built a Global vs Local page to isolate Venice's subsidence signal empirically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E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E" sz="1200" dirty="0">
                <a:latin typeface="Arial" panose="020B0604020202020204" pitchFamily="34" charset="0"/>
                <a:cs typeface="Arial" panose="020B0604020202020204" pitchFamily="34" charset="0"/>
              </a:rPr>
              <a:t>Integration of Wild Tide API.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8610BA5-DCAE-9BCC-6933-E9B023CB08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2522" y="3743632"/>
            <a:ext cx="6545179" cy="3454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Results &amp; Evaluation</a:t>
            </a:r>
            <a:r>
              <a:rPr lang="en-GB" dirty="0"/>
              <a:t> </a:t>
            </a:r>
            <a:endParaRPr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EF2DCEA-1D48-B064-E93C-2C8F00338717}"/>
              </a:ext>
            </a:extLst>
          </p:cNvPr>
          <p:cNvSpPr txBox="1"/>
          <p:nvPr/>
        </p:nvSpPr>
        <p:spPr>
          <a:xfrm>
            <a:off x="429835" y="5712169"/>
            <a:ext cx="8141109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E" sz="1400" dirty="0">
                <a:latin typeface="Arial" panose="020B0604020202020204" pitchFamily="34" charset="0"/>
                <a:cs typeface="Arial" panose="020B0604020202020204" pitchFamily="34" charset="0"/>
              </a:rPr>
              <a:t>Epoch curves are useful when you train a neural network or an SGD-based model with many passes over the data. I used classical linear/Ridge regression, which directly computes the best parameters without epoch-style training, so an epoch plot would be artificial and not informative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981BD7-71EE-E215-C2A4-2C5567EEFB21}"/>
              </a:ext>
            </a:extLst>
          </p:cNvPr>
          <p:cNvSpPr txBox="1"/>
          <p:nvPr/>
        </p:nvSpPr>
        <p:spPr>
          <a:xfrm>
            <a:off x="429835" y="4767063"/>
            <a:ext cx="71933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AE" sz="1200" dirty="0">
                <a:latin typeface="Arial" panose="020B0604020202020204" pitchFamily="34" charset="0"/>
                <a:cs typeface="Arial" panose="020B0604020202020204" pitchFamily="34" charset="0"/>
              </a:rPr>
              <a:t>Moderate correlation between year and sea level (R = 0.454).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E" sz="1200" dirty="0">
                <a:latin typeface="Arial" panose="020B0604020202020204" pitchFamily="34" charset="0"/>
                <a:cs typeface="Arial" panose="020B0604020202020204" pitchFamily="34" charset="0"/>
              </a:rPr>
              <a:t>Strong regularization selected (α = 100), favouring a simple model.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E" sz="1200" dirty="0">
                <a:latin typeface="Arial" panose="020B0604020202020204" pitchFamily="34" charset="0"/>
                <a:cs typeface="Arial" panose="020B0604020202020204" pitchFamily="34" charset="0"/>
              </a:rPr>
              <a:t> Negative test R² (-1.11) indicates poor generalization to unseen years.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E" sz="1200" dirty="0">
                <a:latin typeface="Arial" panose="020B0604020202020204" pitchFamily="34" charset="0"/>
                <a:cs typeface="Arial" panose="020B0604020202020204" pitchFamily="34" charset="0"/>
              </a:rPr>
              <a:t>Additional climate predictors are needed to improve forecasts.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F5B0B8C-E6F1-D7E8-99A0-8F0F7421FD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7745" y="2098955"/>
            <a:ext cx="3723199" cy="210605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9036FE1-56A8-7B13-63F2-D79319B491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835" y="2098955"/>
            <a:ext cx="3864834" cy="15764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Goal Achievement &amp; Digital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6981" y="2171148"/>
            <a:ext cx="8770373" cy="29160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E" sz="105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Goals met ✅</a:t>
            </a:r>
            <a:endParaRPr lang="en-AE" sz="105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AE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Users can pick a flooding threshold and the app tells them exactly which year Venice will reach it and under each climate scenario</a:t>
            </a:r>
          </a:p>
          <a:p>
            <a:r>
              <a:rPr lang="en-AE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Compared values with a viable source to confirm that the prediction is valid.</a:t>
            </a:r>
          </a:p>
          <a:p>
            <a:r>
              <a:rPr lang="en-AE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app shows its working: all graphs, formulas, and accuracy metrics are visible to the user, nothing is hidden</a:t>
            </a:r>
          </a:p>
          <a:p>
            <a:r>
              <a:rPr lang="en-AE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Users just open the dashboard and get answers. No coding, no building models themselves. Data can also be downloaded directly as CSV</a:t>
            </a:r>
          </a:p>
          <a:p>
            <a:pPr marL="0" indent="0">
              <a:buNone/>
            </a:pPr>
            <a:r>
              <a:rPr lang="en-AE" sz="105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Partially met ⚠️</a:t>
            </a:r>
            <a:endParaRPr lang="en-AE" sz="105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AE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 can predict the overall direction sea level is heading over decades, but not the exact value for any specific year. Natural year-to-year variation makes that impossible with a straight line mode.</a:t>
            </a:r>
          </a:p>
          <a:p>
            <a:endParaRPr lang="en-A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2000"/>
            </a:pP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A073E30-B81E-D966-A89D-8B62CC3012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6824" y="4383424"/>
            <a:ext cx="5697793" cy="247457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TM03457464[[fn=Dividend]]</Template>
  <TotalTime>493</TotalTime>
  <Words>461</Words>
  <Application>Microsoft Office PowerPoint</Application>
  <PresentationFormat>On-screen Show (4:3)</PresentationFormat>
  <Paragraphs>47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Gill Sans MT</vt:lpstr>
      <vt:lpstr>Wingdings 2</vt:lpstr>
      <vt:lpstr>Dividend</vt:lpstr>
      <vt:lpstr>FloodCast Venice – Water you thinking? 💦</vt:lpstr>
      <vt:lpstr>Business Case &amp; Added Value</vt:lpstr>
      <vt:lpstr>Architecture &amp; Methodology</vt:lpstr>
      <vt:lpstr>Technical Implementation &amp; Configurations</vt:lpstr>
      <vt:lpstr>Results &amp; Evaluation </vt:lpstr>
      <vt:lpstr>Goal Achievement &amp; Digital Implementation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Admin</cp:lastModifiedBy>
  <cp:revision>8</cp:revision>
  <dcterms:created xsi:type="dcterms:W3CDTF">2013-01-27T09:14:16Z</dcterms:created>
  <dcterms:modified xsi:type="dcterms:W3CDTF">2026-06-24T19:30:26Z</dcterms:modified>
  <cp:category/>
</cp:coreProperties>
</file>